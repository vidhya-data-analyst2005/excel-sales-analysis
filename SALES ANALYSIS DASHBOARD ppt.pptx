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8" r:id="rId1"/>
  </p:sldMasterIdLst>
  <p:notesMasterIdLst>
    <p:notesMasterId r:id="rId10"/>
  </p:notesMasterIdLst>
  <p:sldIdLst>
    <p:sldId id="256" r:id="rId2"/>
    <p:sldId id="257" r:id="rId3"/>
    <p:sldId id="258" r:id="rId4"/>
    <p:sldId id="263" r:id="rId5"/>
    <p:sldId id="267" r:id="rId6"/>
    <p:sldId id="268" r:id="rId7"/>
    <p:sldId id="265" r:id="rId8"/>
    <p:sldId id="26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dhya S" userId="9d679e20743816dc" providerId="LiveId" clId="{C845DCF2-0146-48D4-8C0E-BCB23284528E}"/>
    <pc:docChg chg="custSel modSld">
      <pc:chgData name="Vidhya S" userId="9d679e20743816dc" providerId="LiveId" clId="{C845DCF2-0146-48D4-8C0E-BCB23284528E}" dt="2026-10-28T06:16:41.049" v="13" actId="14100"/>
      <pc:docMkLst>
        <pc:docMk/>
      </pc:docMkLst>
      <pc:sldChg chg="addSp delSp modSp mod">
        <pc:chgData name="Vidhya S" userId="9d679e20743816dc" providerId="LiveId" clId="{C845DCF2-0146-48D4-8C0E-BCB23284528E}" dt="2026-10-28T06:16:41.049" v="13" actId="14100"/>
        <pc:sldMkLst>
          <pc:docMk/>
          <pc:sldMk cId="1161634618" sldId="263"/>
        </pc:sldMkLst>
        <pc:picChg chg="add del mod">
          <ac:chgData name="Vidhya S" userId="9d679e20743816dc" providerId="LiveId" clId="{C845DCF2-0146-48D4-8C0E-BCB23284528E}" dt="2026-10-28T06:16:23.595" v="8" actId="478"/>
          <ac:picMkLst>
            <pc:docMk/>
            <pc:sldMk cId="1161634618" sldId="263"/>
            <ac:picMk id="3" creationId="{9E9F26F0-2751-1DB0-BABF-B1F4D1067047}"/>
          </ac:picMkLst>
        </pc:picChg>
        <pc:picChg chg="add mod">
          <ac:chgData name="Vidhya S" userId="9d679e20743816dc" providerId="LiveId" clId="{C845DCF2-0146-48D4-8C0E-BCB23284528E}" dt="2026-10-28T06:16:41.049" v="13" actId="14100"/>
          <ac:picMkLst>
            <pc:docMk/>
            <pc:sldMk cId="1161634618" sldId="263"/>
            <ac:picMk id="5" creationId="{F8D79A51-8DE1-151A-8C1B-4219732C90FD}"/>
          </ac:picMkLst>
        </pc:picChg>
        <pc:picChg chg="del">
          <ac:chgData name="Vidhya S" userId="9d679e20743816dc" providerId="LiveId" clId="{C845DCF2-0146-48D4-8C0E-BCB23284528E}" dt="2026-10-28T06:10:52.111" v="0" actId="478"/>
          <ac:picMkLst>
            <pc:docMk/>
            <pc:sldMk cId="1161634618" sldId="263"/>
            <ac:picMk id="7" creationId="{242DFA9C-A7EA-AF89-63B8-0F84D88F29E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389B5E-9270-4113-8131-78BDACA94326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DBE2FA-107A-41C1-AED8-913347E58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057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DBE2FA-107A-41C1-AED8-913347E584F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41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0D38F85-D4D7-4774-A216-68D49CEA32B3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193B7AD-D18E-4F90-9F3D-DA0ACE160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6746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0D38F85-D4D7-4774-A216-68D49CEA32B3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193B7AD-D18E-4F90-9F3D-DA0ACE1609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1391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70D38F85-D4D7-4774-A216-68D49CEA32B3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4193B7AD-D18E-4F90-9F3D-DA0ACE160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8719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38F85-D4D7-4774-A216-68D49CEA32B3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3B7AD-D18E-4F90-9F3D-DA0ACE1609B2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0641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38F85-D4D7-4774-A216-68D49CEA32B3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3B7AD-D18E-4F90-9F3D-DA0ACE160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307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0D38F85-D4D7-4774-A216-68D49CEA32B3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193B7AD-D18E-4F90-9F3D-DA0ACE1609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5165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D38F85-D4D7-4774-A216-68D49CEA32B3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193B7AD-D18E-4F90-9F3D-DA0ACE1609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541153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0D38F85-D4D7-4774-A216-68D49CEA32B3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193B7AD-D18E-4F90-9F3D-DA0ACE1609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02380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0D38F85-D4D7-4774-A216-68D49CEA32B3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193B7AD-D18E-4F90-9F3D-DA0ACE1609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90026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70D38F85-D4D7-4774-A216-68D49CEA32B3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4193B7AD-D18E-4F90-9F3D-DA0ACE1609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0202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70D38F85-D4D7-4774-A216-68D49CEA32B3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4193B7AD-D18E-4F90-9F3D-DA0ACE1609B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1757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70D38F85-D4D7-4774-A216-68D49CEA32B3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193B7AD-D18E-4F90-9F3D-DA0ACE1609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3409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38F85-D4D7-4774-A216-68D49CEA32B3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3B7AD-D18E-4F90-9F3D-DA0ACE1609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7774377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0D38F85-D4D7-4774-A216-68D49CEA32B3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4193B7AD-D18E-4F90-9F3D-DA0ACE1609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48495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70D38F85-D4D7-4774-A216-68D49CEA32B3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4193B7AD-D18E-4F90-9F3D-DA0ACE1609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11521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70D38F85-D4D7-4774-A216-68D49CEA32B3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4193B7AD-D18E-4F90-9F3D-DA0ACE1609B2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20596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0D38F85-D4D7-4774-A216-68D49CEA32B3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193B7AD-D18E-4F90-9F3D-DA0ACE1609B2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511942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0D38F85-D4D7-4774-A216-68D49CEA32B3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193B7AD-D18E-4F90-9F3D-DA0ACE1609B2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752853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0D38F85-D4D7-4774-A216-68D49CEA32B3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193B7AD-D18E-4F90-9F3D-DA0ACE1609B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62222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0D38F85-D4D7-4774-A216-68D49CEA32B3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193B7AD-D18E-4F90-9F3D-DA0ACE1609B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14471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D38F85-D4D7-4774-A216-68D49CEA32B3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193B7AD-D18E-4F90-9F3D-DA0ACE1609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86399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0D38F85-D4D7-4774-A216-68D49CEA32B3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193B7AD-D18E-4F90-9F3D-DA0ACE1609B2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428351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0D38F85-D4D7-4774-A216-68D49CEA32B3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193B7AD-D18E-4F90-9F3D-DA0ACE1609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255347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0D38F85-D4D7-4774-A216-68D49CEA32B3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193B7AD-D18E-4F90-9F3D-DA0ACE1609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28940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0D38F85-D4D7-4774-A216-68D49CEA32B3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193B7AD-D18E-4F90-9F3D-DA0ACE1609B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31936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38F85-D4D7-4774-A216-68D49CEA32B3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3B7AD-D18E-4F90-9F3D-DA0ACE160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51410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38F85-D4D7-4774-A216-68D49CEA32B3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3B7AD-D18E-4F90-9F3D-DA0ACE160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217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70D38F85-D4D7-4774-A216-68D49CEA32B3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4193B7AD-D18E-4F90-9F3D-DA0ACE1609B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27556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  <p:sldLayoutId id="2147483707" r:id="rId19"/>
    <p:sldLayoutId id="2147483708" r:id="rId20"/>
    <p:sldLayoutId id="2147483709" r:id="rId21"/>
    <p:sldLayoutId id="2147483710" r:id="rId22"/>
    <p:sldLayoutId id="2147483711" r:id="rId23"/>
    <p:sldLayoutId id="2147483712" r:id="rId24"/>
    <p:sldLayoutId id="2147483713" r:id="rId25"/>
    <p:sldLayoutId id="2147483714" r:id="rId26"/>
    <p:sldLayoutId id="2147483715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1034A-696C-8840-117A-36B24500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Algerian" panose="04020705040A02060702" pitchFamily="82" charset="0"/>
              </a:rPr>
              <a:t>        SALES ANALYSIS DASHBOARD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CE6F17-DF92-C319-CBBC-FCA0C95567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50029" y="5397613"/>
            <a:ext cx="9144000" cy="1655762"/>
          </a:xfrm>
        </p:spPr>
        <p:txBody>
          <a:bodyPr>
            <a:normAutofit fontScale="92500" lnSpcReduction="10000"/>
          </a:bodyPr>
          <a:lstStyle/>
          <a:p>
            <a:pPr algn="r"/>
            <a:br>
              <a:rPr lang="en-US" dirty="0"/>
            </a:br>
            <a:r>
              <a:rPr lang="en-US" sz="2800" b="1" dirty="0"/>
              <a:t>Presented by:</a:t>
            </a:r>
            <a:r>
              <a:rPr lang="en-US" sz="2800" dirty="0"/>
              <a:t> Vidhya</a:t>
            </a:r>
            <a:br>
              <a:rPr lang="en-US" sz="2800" dirty="0"/>
            </a:br>
            <a:br>
              <a:rPr lang="en-US" sz="2800" dirty="0"/>
            </a:b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A0C1B5-17C7-E9F1-C721-B11EA0BC2656}"/>
              </a:ext>
            </a:extLst>
          </p:cNvPr>
          <p:cNvSpPr txBox="1"/>
          <p:nvPr/>
        </p:nvSpPr>
        <p:spPr>
          <a:xfrm>
            <a:off x="1926934" y="3639473"/>
            <a:ext cx="83381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Project Type:</a:t>
            </a:r>
            <a:r>
              <a:rPr lang="en-US" sz="3600" dirty="0"/>
              <a:t> Data Analysis Project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BCC8E9-99BC-CCFC-48B8-06AA9A02AEC9}"/>
              </a:ext>
            </a:extLst>
          </p:cNvPr>
          <p:cNvSpPr txBox="1"/>
          <p:nvPr/>
        </p:nvSpPr>
        <p:spPr>
          <a:xfrm>
            <a:off x="2634669" y="4262344"/>
            <a:ext cx="83381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Tools Used </a:t>
            </a:r>
            <a:r>
              <a:rPr lang="en-US" sz="3600" dirty="0"/>
              <a:t>: Excel</a:t>
            </a:r>
          </a:p>
        </p:txBody>
      </p:sp>
    </p:spTree>
    <p:extLst>
      <p:ext uri="{BB962C8B-B14F-4D97-AF65-F5344CB8AC3E}">
        <p14:creationId xmlns:p14="http://schemas.microsoft.com/office/powerpoint/2010/main" val="30949055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E8C78B-5E1A-7FA3-89E9-D3D68B8AB2DB}"/>
              </a:ext>
            </a:extLst>
          </p:cNvPr>
          <p:cNvSpPr txBox="1"/>
          <p:nvPr/>
        </p:nvSpPr>
        <p:spPr>
          <a:xfrm>
            <a:off x="-1" y="206829"/>
            <a:ext cx="12192001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lgerian" panose="04020705040A02060702" pitchFamily="82" charset="0"/>
              </a:rPr>
              <a:t>                                       Overview</a:t>
            </a:r>
          </a:p>
          <a:p>
            <a:endParaRPr lang="en-US" dirty="0"/>
          </a:p>
          <a:p>
            <a:pPr lvl="0"/>
            <a:r>
              <a:rPr lang="en-US" sz="2800" dirty="0">
                <a:sym typeface="Wingdings" panose="05000000000000000000" pitchFamily="2" charset="2"/>
              </a:rPr>
              <a:t> </a:t>
            </a:r>
            <a:r>
              <a:rPr lang="en-US" sz="2800" dirty="0"/>
              <a:t>This project analyzes sales data using Microsoft Excel. </a:t>
            </a:r>
          </a:p>
          <a:p>
            <a:pPr lvl="0"/>
            <a:endParaRPr lang="en-US" sz="2800" dirty="0"/>
          </a:p>
          <a:p>
            <a:pPr lvl="0"/>
            <a:r>
              <a:rPr lang="en-US" sz="2800" dirty="0">
                <a:sym typeface="Wingdings" panose="05000000000000000000" pitchFamily="2" charset="2"/>
              </a:rPr>
              <a:t> </a:t>
            </a:r>
            <a:r>
              <a:rPr lang="en-US" sz="2800" dirty="0"/>
              <a:t>The dataset contains </a:t>
            </a:r>
            <a:r>
              <a:rPr lang="en-US" sz="2800" b="1" dirty="0"/>
              <a:t>500 sales orders</a:t>
            </a:r>
            <a:r>
              <a:rPr lang="en-US" sz="2800" dirty="0"/>
              <a:t>. </a:t>
            </a:r>
          </a:p>
          <a:p>
            <a:pPr lvl="0"/>
            <a:endParaRPr lang="en-US" sz="2800" dirty="0"/>
          </a:p>
          <a:p>
            <a:pPr marL="457200" lvl="0" indent="-457200">
              <a:buFont typeface="Wingdings" panose="05000000000000000000" pitchFamily="2" charset="2"/>
              <a:buChar char="à"/>
            </a:pPr>
            <a:r>
              <a:rPr lang="en-US" sz="2800" dirty="0"/>
              <a:t>The analysis focuses on products, categories, regions, customers, and monthly sales.</a:t>
            </a:r>
          </a:p>
          <a:p>
            <a:pPr marL="457200" lvl="0" indent="-457200">
              <a:buFont typeface="Wingdings" panose="05000000000000000000" pitchFamily="2" charset="2"/>
              <a:buChar char="à"/>
            </a:pPr>
            <a:endParaRPr lang="en-US" sz="2800" dirty="0"/>
          </a:p>
          <a:p>
            <a:pPr lvl="0"/>
            <a:r>
              <a:rPr lang="en-US" sz="2800" dirty="0">
                <a:sym typeface="Wingdings" panose="05000000000000000000" pitchFamily="2" charset="2"/>
              </a:rPr>
              <a:t> </a:t>
            </a:r>
            <a:r>
              <a:rPr lang="en-US" sz="2800" dirty="0"/>
              <a:t>An interactive dashboard was created using </a:t>
            </a:r>
            <a:r>
              <a:rPr lang="en-US" sz="2800" b="1" dirty="0"/>
              <a:t>PivotTables, Charts, and</a:t>
            </a:r>
            <a:r>
              <a:rPr lang="en-US" sz="2800" dirty="0"/>
              <a:t>. </a:t>
            </a:r>
          </a:p>
          <a:p>
            <a:pPr lvl="0"/>
            <a:r>
              <a:rPr lang="en-US" sz="2800" dirty="0"/>
              <a:t>    </a:t>
            </a:r>
            <a:r>
              <a:rPr lang="en-US" sz="2800" b="1" dirty="0"/>
              <a:t>Slicers</a:t>
            </a:r>
          </a:p>
          <a:p>
            <a:pPr lvl="0"/>
            <a:endParaRPr lang="en-US" sz="2800" dirty="0"/>
          </a:p>
          <a:p>
            <a:pPr lvl="0"/>
            <a:r>
              <a:rPr lang="en-US" sz="2800" dirty="0">
                <a:sym typeface="Wingdings" panose="05000000000000000000" pitchFamily="2" charset="2"/>
              </a:rPr>
              <a:t> </a:t>
            </a:r>
            <a:r>
              <a:rPr lang="en-US" sz="2800" dirty="0"/>
              <a:t>The dashboard helps identify sales trends and business performance.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8171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CEC8CC-D81F-A16D-908A-7B55BF1D8D14}"/>
              </a:ext>
            </a:extLst>
          </p:cNvPr>
          <p:cNvSpPr txBox="1"/>
          <p:nvPr/>
        </p:nvSpPr>
        <p:spPr>
          <a:xfrm>
            <a:off x="228600" y="326572"/>
            <a:ext cx="13487400" cy="6801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lgerian" panose="04020705040A02060702" pitchFamily="82" charset="0"/>
              </a:rPr>
              <a:t>                                       Objectives</a:t>
            </a:r>
          </a:p>
          <a:p>
            <a:endParaRPr lang="en-US" dirty="0"/>
          </a:p>
          <a:p>
            <a:pPr marL="285750" lvl="0" indent="-285750">
              <a:buFont typeface="Wingdings" panose="05000000000000000000" pitchFamily="2" charset="2"/>
              <a:buChar char="à"/>
            </a:pPr>
            <a:r>
              <a:rPr lang="en-US" sz="2400" dirty="0"/>
              <a:t>  Analyze overall sales performance. </a:t>
            </a:r>
          </a:p>
          <a:p>
            <a:pPr marL="285750" lvl="0" indent="-285750">
              <a:buFont typeface="Wingdings" panose="05000000000000000000" pitchFamily="2" charset="2"/>
              <a:buChar char="à"/>
            </a:pPr>
            <a:endParaRPr lang="en-US" sz="2400" dirty="0"/>
          </a:p>
          <a:p>
            <a:pPr marL="285750" lvl="0" indent="-285750">
              <a:buFont typeface="Wingdings" panose="05000000000000000000" pitchFamily="2" charset="2"/>
              <a:buChar char="à"/>
            </a:pPr>
            <a:r>
              <a:rPr lang="en-US" sz="2400" dirty="0"/>
              <a:t>  Identify the highest-selling products. </a:t>
            </a:r>
          </a:p>
          <a:p>
            <a:pPr marL="285750" lvl="0" indent="-285750">
              <a:buFont typeface="Wingdings" panose="05000000000000000000" pitchFamily="2" charset="2"/>
              <a:buChar char="à"/>
            </a:pPr>
            <a:endParaRPr lang="en-US" sz="2400" dirty="0"/>
          </a:p>
          <a:p>
            <a:pPr lvl="0"/>
            <a:r>
              <a:rPr lang="en-US" sz="2400" dirty="0">
                <a:sym typeface="Wingdings" panose="05000000000000000000" pitchFamily="2" charset="2"/>
              </a:rPr>
              <a:t>  </a:t>
            </a:r>
            <a:r>
              <a:rPr lang="en-US" sz="2400" dirty="0"/>
              <a:t>Compare sales across different categories.</a:t>
            </a:r>
          </a:p>
          <a:p>
            <a:pPr lvl="0"/>
            <a:r>
              <a:rPr lang="en-US" sz="2400" dirty="0"/>
              <a:t> </a:t>
            </a:r>
          </a:p>
          <a:p>
            <a:pPr lvl="0"/>
            <a:r>
              <a:rPr lang="en-US" sz="2400" dirty="0">
                <a:sym typeface="Wingdings" panose="05000000000000000000" pitchFamily="2" charset="2"/>
              </a:rPr>
              <a:t>  </a:t>
            </a:r>
            <a:r>
              <a:rPr lang="en-US" sz="2400" dirty="0"/>
              <a:t>Analyze regional sales performance. </a:t>
            </a:r>
          </a:p>
          <a:p>
            <a:pPr lvl="0"/>
            <a:endParaRPr lang="en-US" sz="2400" dirty="0"/>
          </a:p>
          <a:p>
            <a:pPr lvl="0"/>
            <a:r>
              <a:rPr lang="en-US" sz="2400" dirty="0">
                <a:sym typeface="Wingdings" panose="05000000000000000000" pitchFamily="2" charset="2"/>
              </a:rPr>
              <a:t>  </a:t>
            </a:r>
            <a:r>
              <a:rPr lang="en-US" sz="2400" dirty="0"/>
              <a:t>Identify monthly sales trends. </a:t>
            </a:r>
          </a:p>
          <a:p>
            <a:pPr lvl="0"/>
            <a:endParaRPr lang="en-US" sz="2400" dirty="0"/>
          </a:p>
          <a:p>
            <a:pPr lvl="0"/>
            <a:r>
              <a:rPr lang="en-US" sz="2400" dirty="0">
                <a:sym typeface="Wingdings" panose="05000000000000000000" pitchFamily="2" charset="2"/>
              </a:rPr>
              <a:t>  </a:t>
            </a:r>
            <a:r>
              <a:rPr lang="en-US" sz="2400" dirty="0"/>
              <a:t>Find top-performing customers. </a:t>
            </a:r>
          </a:p>
          <a:p>
            <a:pPr lvl="0"/>
            <a:endParaRPr lang="en-US" sz="2400" dirty="0"/>
          </a:p>
          <a:p>
            <a:pPr lvl="0"/>
            <a:r>
              <a:rPr lang="en-US" sz="2400" dirty="0">
                <a:sym typeface="Wingdings" panose="05000000000000000000" pitchFamily="2" charset="2"/>
              </a:rPr>
              <a:t>  </a:t>
            </a:r>
            <a:r>
              <a:rPr lang="en-US" sz="2400" dirty="0"/>
              <a:t>Create an interactive sales dashboard. </a:t>
            </a:r>
          </a:p>
          <a:p>
            <a:pPr lvl="0"/>
            <a:endParaRPr lang="en-US" sz="2400" dirty="0"/>
          </a:p>
          <a:p>
            <a:pPr lvl="0"/>
            <a:r>
              <a:rPr lang="en-US" sz="2400" dirty="0">
                <a:sym typeface="Wingdings" panose="05000000000000000000" pitchFamily="2" charset="2"/>
              </a:rPr>
              <a:t>  </a:t>
            </a:r>
            <a:r>
              <a:rPr lang="en-US" sz="2400" dirty="0"/>
              <a:t>Generate useful business insights.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5530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DDB62EE-FF70-BCC2-311C-F6351AFB5CED}"/>
              </a:ext>
            </a:extLst>
          </p:cNvPr>
          <p:cNvSpPr txBox="1"/>
          <p:nvPr/>
        </p:nvSpPr>
        <p:spPr>
          <a:xfrm>
            <a:off x="217714" y="152400"/>
            <a:ext cx="3897086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lgerian" panose="04020705040A02060702" pitchFamily="82" charset="0"/>
              </a:rPr>
              <a:t>Key Results</a:t>
            </a:r>
          </a:p>
          <a:p>
            <a:endParaRPr lang="en-US" dirty="0"/>
          </a:p>
          <a:p>
            <a:pPr lvl="0"/>
            <a:r>
              <a:rPr lang="en-US" b="1" dirty="0"/>
              <a:t>Total Sales:</a:t>
            </a:r>
            <a:r>
              <a:rPr lang="en-US" dirty="0"/>
              <a:t> ₹19,375,149 </a:t>
            </a:r>
          </a:p>
          <a:p>
            <a:pPr lvl="0"/>
            <a:endParaRPr lang="en-US" dirty="0"/>
          </a:p>
          <a:p>
            <a:pPr lvl="0"/>
            <a:r>
              <a:rPr lang="en-US" b="1" dirty="0"/>
              <a:t>Total Orders:</a:t>
            </a:r>
            <a:r>
              <a:rPr lang="en-US" dirty="0"/>
              <a:t> 500 </a:t>
            </a:r>
          </a:p>
          <a:p>
            <a:pPr lvl="0"/>
            <a:endParaRPr lang="en-US" dirty="0"/>
          </a:p>
          <a:p>
            <a:pPr lvl="0"/>
            <a:r>
              <a:rPr lang="en-US" b="1" dirty="0"/>
              <a:t>Top Product:</a:t>
            </a:r>
            <a:r>
              <a:rPr lang="en-US" dirty="0"/>
              <a:t> Laptop – ₹6,425,463</a:t>
            </a:r>
          </a:p>
          <a:p>
            <a:pPr lvl="0"/>
            <a:r>
              <a:rPr lang="en-US" dirty="0"/>
              <a:t> </a:t>
            </a:r>
          </a:p>
          <a:p>
            <a:pPr lvl="0"/>
            <a:r>
              <a:rPr lang="en-US" b="1" dirty="0"/>
              <a:t>Top Category:</a:t>
            </a:r>
            <a:r>
              <a:rPr lang="en-US" dirty="0"/>
              <a:t> Electronics – ₹16,170,921</a:t>
            </a:r>
          </a:p>
          <a:p>
            <a:pPr lvl="0"/>
            <a:r>
              <a:rPr lang="en-US" dirty="0"/>
              <a:t> </a:t>
            </a:r>
          </a:p>
          <a:p>
            <a:pPr lvl="0"/>
            <a:r>
              <a:rPr lang="en-US" b="1" dirty="0"/>
              <a:t>Top Region:</a:t>
            </a:r>
            <a:r>
              <a:rPr lang="en-US" dirty="0"/>
              <a:t> Coimbatore – ₹4,210,035</a:t>
            </a:r>
          </a:p>
          <a:p>
            <a:pPr lvl="0"/>
            <a:r>
              <a:rPr lang="en-US" dirty="0"/>
              <a:t> </a:t>
            </a:r>
          </a:p>
          <a:p>
            <a:pPr lvl="0"/>
            <a:r>
              <a:rPr lang="en-US" b="1" dirty="0"/>
              <a:t>Top Month:</a:t>
            </a:r>
            <a:r>
              <a:rPr lang="en-US" dirty="0"/>
              <a:t> October – ₹2,012,022</a:t>
            </a:r>
          </a:p>
          <a:p>
            <a:pPr lvl="0"/>
            <a:r>
              <a:rPr lang="en-US" dirty="0"/>
              <a:t> </a:t>
            </a:r>
          </a:p>
          <a:p>
            <a:pPr lvl="0"/>
            <a:r>
              <a:rPr lang="en-US" b="1" dirty="0"/>
              <a:t>Top Customer:</a:t>
            </a:r>
            <a:r>
              <a:rPr lang="en-US" dirty="0"/>
              <a:t> Priya S – ₹1,917,906</a:t>
            </a:r>
          </a:p>
          <a:p>
            <a:endParaRPr lang="en-US" dirty="0"/>
          </a:p>
        </p:txBody>
      </p:sp>
      <p:pic>
        <p:nvPicPr>
          <p:cNvPr id="11" name="Picture 10" descr="Businessperson on a computer">
            <a:extLst>
              <a:ext uri="{FF2B5EF4-FFF2-40B4-BE49-F238E27FC236}">
                <a16:creationId xmlns:a16="http://schemas.microsoft.com/office/drawing/2014/main" id="{B53C5113-B3B3-D970-3701-3520FEC7F4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89714"/>
            <a:ext cx="4278086" cy="20682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8D79A51-8DE1-151A-8C1B-4219732C9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2514" y="0"/>
            <a:ext cx="78594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634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8C95C9-07E0-60A2-0209-F2158D7F4FA4}"/>
              </a:ext>
            </a:extLst>
          </p:cNvPr>
          <p:cNvSpPr txBox="1"/>
          <p:nvPr/>
        </p:nvSpPr>
        <p:spPr>
          <a:xfrm>
            <a:off x="4125686" y="522514"/>
            <a:ext cx="36181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lgerian" panose="04020705040A02060702" pitchFamily="82" charset="0"/>
              </a:rPr>
              <a:t>Advantage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8CD9D9-BDB2-0AA2-6D4E-D25A2693F65C}"/>
              </a:ext>
            </a:extLst>
          </p:cNvPr>
          <p:cNvSpPr txBox="1"/>
          <p:nvPr/>
        </p:nvSpPr>
        <p:spPr>
          <a:xfrm>
            <a:off x="821872" y="1915885"/>
            <a:ext cx="6106885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Easy Data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Interactive Dashboard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Clear Visualization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Business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Easy to 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165143"/>
      </p:ext>
    </p:extLst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D28C58-B0AB-022F-F2DB-095FA06CEB9D}"/>
              </a:ext>
            </a:extLst>
          </p:cNvPr>
          <p:cNvSpPr txBox="1"/>
          <p:nvPr/>
        </p:nvSpPr>
        <p:spPr>
          <a:xfrm>
            <a:off x="0" y="500743"/>
            <a:ext cx="12279086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lgerian" panose="04020705040A02060702" pitchFamily="82" charset="0"/>
              </a:rPr>
              <a:t>Disadvantage                                Solutions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>
              <a:latin typeface="Algerian" panose="04020705040A02060702" pitchFamily="8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Limited Data Handling                                                          Use SQL / Power Bi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Manual Updates Refresh                                                      Use Excel Tables &amp; Refresh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Collaboration Limitations                                                      Use OneDrive / </a:t>
            </a:r>
            <a:r>
              <a:rPr lang="en-US" sz="2400" dirty="0" err="1"/>
              <a:t>Sharepoint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Security Limitations                                                              Use Password &amp; Access Control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Advanced  Analytics Limitations                                          Use Python / Power Bi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56809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9C53EB-ABCA-7F7F-DCE2-0E6C63B3B97E}"/>
              </a:ext>
            </a:extLst>
          </p:cNvPr>
          <p:cNvSpPr txBox="1"/>
          <p:nvPr/>
        </p:nvSpPr>
        <p:spPr>
          <a:xfrm>
            <a:off x="-76200" y="0"/>
            <a:ext cx="11440886" cy="6032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lgerian" panose="04020705040A02060702" pitchFamily="82" charset="0"/>
              </a:rPr>
              <a:t>                                 Conclusion</a:t>
            </a:r>
          </a:p>
          <a:p>
            <a:endParaRPr lang="en-US" sz="4000" dirty="0">
              <a:latin typeface="Algerian" panose="04020705040A02060702" pitchFamily="82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200" dirty="0"/>
              <a:t>Excel was used to transform raw sales data into meaningful insights.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200" dirty="0"/>
              <a:t>PivotTables and </a:t>
            </a:r>
            <a:r>
              <a:rPr lang="en-US" sz="3200" dirty="0" err="1"/>
              <a:t>PivotCharts</a:t>
            </a:r>
            <a:r>
              <a:rPr lang="en-US" sz="3200" dirty="0"/>
              <a:t> helped analyze business performance.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200" dirty="0"/>
              <a:t>Slicers made the dashboard interactive.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200" dirty="0"/>
              <a:t>The dashboard provides a clear view of sales trends, products, customers, categories, and regions.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200" dirty="0"/>
              <a:t>This project demonstrates practical </a:t>
            </a:r>
            <a:r>
              <a:rPr lang="en-US" sz="3200" b="1" dirty="0"/>
              <a:t>Data Analysis and Excel Dashboard skills</a:t>
            </a:r>
            <a:r>
              <a:rPr lang="en-US" sz="32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4511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F69EB1-FF16-E861-ED43-D088871E4FC7}"/>
              </a:ext>
            </a:extLst>
          </p:cNvPr>
          <p:cNvSpPr txBox="1"/>
          <p:nvPr/>
        </p:nvSpPr>
        <p:spPr>
          <a:xfrm>
            <a:off x="2318657" y="2838662"/>
            <a:ext cx="755468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THANK YOU</a:t>
            </a:r>
            <a:endParaRPr lang="en-US" b="1" dirty="0">
              <a:latin typeface="Arial Black" panose="020B0A040201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12290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155</TotalTime>
  <Words>300</Words>
  <Application>Microsoft Office PowerPoint</Application>
  <PresentationFormat>Widescreen</PresentationFormat>
  <Paragraphs>80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Algerian</vt:lpstr>
      <vt:lpstr>Aptos</vt:lpstr>
      <vt:lpstr>Arial</vt:lpstr>
      <vt:lpstr>Arial Black</vt:lpstr>
      <vt:lpstr>Arial Nova Light</vt:lpstr>
      <vt:lpstr>Calibri</vt:lpstr>
      <vt:lpstr>Wingdings</vt:lpstr>
      <vt:lpstr>Dark Gradient</vt:lpstr>
      <vt:lpstr>        SALES ANALYSIS DASHBOARD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Vidhya S</dc:creator>
  <cp:lastModifiedBy>Vidhya S</cp:lastModifiedBy>
  <cp:revision>2</cp:revision>
  <dcterms:created xsi:type="dcterms:W3CDTF">2026-09-21T08:52:13Z</dcterms:created>
  <dcterms:modified xsi:type="dcterms:W3CDTF">2026-10-28T06:16:56Z</dcterms:modified>
</cp:coreProperties>
</file>